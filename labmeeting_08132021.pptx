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2" r:id="rId3"/>
    <p:sldId id="306" r:id="rId4"/>
    <p:sldId id="301" r:id="rId5"/>
    <p:sldId id="303" r:id="rId6"/>
    <p:sldId id="307" r:id="rId7"/>
    <p:sldId id="304" r:id="rId8"/>
    <p:sldId id="308" r:id="rId9"/>
    <p:sldId id="305" r:id="rId10"/>
    <p:sldId id="309" r:id="rId11"/>
    <p:sldId id="31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37" autoAdjust="0"/>
  </p:normalViewPr>
  <p:slideViewPr>
    <p:cSldViewPr snapToGrid="0">
      <p:cViewPr varScale="1">
        <p:scale>
          <a:sx n="73" d="100"/>
          <a:sy n="73" d="100"/>
        </p:scale>
        <p:origin x="76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43B4-AEF2-43E5-9489-6259DFBF4A34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8CF8-3325-426A-B0D7-CB626AB2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77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43B4-AEF2-43E5-9489-6259DFBF4A34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8CF8-3325-426A-B0D7-CB626AB2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2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43B4-AEF2-43E5-9489-6259DFBF4A34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8CF8-3325-426A-B0D7-CB626AB2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594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43B4-AEF2-43E5-9489-6259DFBF4A34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8CF8-3325-426A-B0D7-CB626AB2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99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43B4-AEF2-43E5-9489-6259DFBF4A34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8CF8-3325-426A-B0D7-CB626AB2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27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43B4-AEF2-43E5-9489-6259DFBF4A34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8CF8-3325-426A-B0D7-CB626AB2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81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43B4-AEF2-43E5-9489-6259DFBF4A34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8CF8-3325-426A-B0D7-CB626AB2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04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43B4-AEF2-43E5-9489-6259DFBF4A34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8CF8-3325-426A-B0D7-CB626AB2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15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43B4-AEF2-43E5-9489-6259DFBF4A34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8CF8-3325-426A-B0D7-CB626AB2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8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43B4-AEF2-43E5-9489-6259DFBF4A34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8CF8-3325-426A-B0D7-CB626AB2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07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43B4-AEF2-43E5-9489-6259DFBF4A34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08CF8-3325-426A-B0D7-CB626AB2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2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643B4-AEF2-43E5-9489-6259DFBF4A34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08CF8-3325-426A-B0D7-CB626AB2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9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Inferring Demographic History of Faroese Mice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2800" dirty="0"/>
              <a:t>Peicheng Jing</a:t>
            </a:r>
          </a:p>
        </p:txBody>
      </p:sp>
    </p:spTree>
    <p:extLst>
      <p:ext uri="{BB962C8B-B14F-4D97-AF65-F5344CB8AC3E}">
        <p14:creationId xmlns:p14="http://schemas.microsoft.com/office/powerpoint/2010/main" val="3826411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47DC-5592-4C0D-BD7A-E9A19F2D8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Genome Sequencing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FD89C-BAFB-4139-A4D0-BAD97EDBD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Unrelated Samples</a:t>
            </a:r>
          </a:p>
          <a:p>
            <a:pPr lvl="1"/>
            <a:r>
              <a:rPr lang="en-US" dirty="0" err="1"/>
              <a:t>Nolsoy</a:t>
            </a:r>
            <a:r>
              <a:rPr lang="en-US" dirty="0"/>
              <a:t> – 8</a:t>
            </a:r>
          </a:p>
          <a:p>
            <a:pPr lvl="1"/>
            <a:r>
              <a:rPr lang="en-US" dirty="0" err="1"/>
              <a:t>Sandoy</a:t>
            </a:r>
            <a:r>
              <a:rPr lang="en-US" dirty="0"/>
              <a:t> – 12</a:t>
            </a:r>
          </a:p>
          <a:p>
            <a:pPr lvl="1"/>
            <a:r>
              <a:rPr lang="en-US" dirty="0"/>
              <a:t>Norway – 6 and 5/7</a:t>
            </a:r>
          </a:p>
          <a:p>
            <a:r>
              <a:rPr lang="en-US" dirty="0"/>
              <a:t>SNPs in selected intergenic regions</a:t>
            </a:r>
          </a:p>
          <a:p>
            <a:r>
              <a:rPr lang="en-US" dirty="0"/>
              <a:t>SFS based methods</a:t>
            </a:r>
          </a:p>
          <a:p>
            <a:pPr lvl="1"/>
            <a:r>
              <a:rPr lang="en-US" dirty="0" err="1" smtClean="0"/>
              <a:t>Dadi</a:t>
            </a:r>
            <a:r>
              <a:rPr lang="en-US" dirty="0" smtClean="0"/>
              <a:t> -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Diffusion equation approximates small per-generation allele frequency change when Ne is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large</a:t>
            </a:r>
            <a:endParaRPr lang="en-US" dirty="0"/>
          </a:p>
          <a:p>
            <a:pPr lvl="1"/>
            <a:r>
              <a:rPr lang="en-US" dirty="0" smtClean="0"/>
              <a:t>Fastsimcoal2 - a </a:t>
            </a:r>
            <a:r>
              <a:rPr lang="en-US" dirty="0"/>
              <a:t>continuous-time coalescent simulator </a:t>
            </a:r>
          </a:p>
        </p:txBody>
      </p:sp>
    </p:spTree>
    <p:extLst>
      <p:ext uri="{BB962C8B-B14F-4D97-AF65-F5344CB8AC3E}">
        <p14:creationId xmlns:p14="http://schemas.microsoft.com/office/powerpoint/2010/main" val="1191718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SFS by Haplotype Caller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01197"/>
            <a:ext cx="4349196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675" y="2101196"/>
            <a:ext cx="4979126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943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0E839-ECCB-4CC9-943A-F31339634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SFS by </a:t>
            </a:r>
            <a:r>
              <a:rPr lang="en-US" dirty="0" err="1"/>
              <a:t>Angsd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7BB4E9-EC5A-499A-954E-BB082E827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4685" y="2627355"/>
            <a:ext cx="3947887" cy="27556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C7C234-2109-4943-865E-2ECEEF4BE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877" y="2627355"/>
            <a:ext cx="4469438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684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FD59B-8F1C-4ECC-BCFF-CF5D5833B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4E9F3-CD4E-4AC6-A67D-296DB4CF8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686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dirty="0"/>
              <a:t>                                    </a:t>
            </a:r>
            <a:r>
              <a:rPr lang="en-US" sz="1800" dirty="0"/>
              <a:t>Na                                                                                               </a:t>
            </a:r>
            <a:r>
              <a:rPr lang="en-US" sz="1800" dirty="0" err="1"/>
              <a:t>Na</a:t>
            </a:r>
            <a:endParaRPr lang="en-US" sz="1800" dirty="0"/>
          </a:p>
          <a:p>
            <a:pPr marL="0" indent="0">
              <a:buNone/>
            </a:pPr>
            <a:r>
              <a:rPr lang="en-US" dirty="0"/>
              <a:t>                      </a:t>
            </a:r>
            <a:r>
              <a:rPr lang="en-US" sz="1800" dirty="0"/>
              <a:t>Nb</a:t>
            </a:r>
            <a:r>
              <a:rPr lang="en-US" dirty="0"/>
              <a:t>                                </a:t>
            </a:r>
            <a:r>
              <a:rPr lang="en-US" sz="1800" dirty="0"/>
              <a:t>T3</a:t>
            </a:r>
            <a:r>
              <a:rPr lang="en-US" dirty="0"/>
              <a:t>                                      </a:t>
            </a:r>
            <a:endParaRPr lang="en-US" sz="1800" dirty="0"/>
          </a:p>
          <a:p>
            <a:pPr marL="0" indent="0">
              <a:buNone/>
            </a:pPr>
            <a:r>
              <a:rPr lang="en-US" dirty="0"/>
              <a:t>                                  </a:t>
            </a:r>
            <a:r>
              <a:rPr lang="en-US" sz="1800" dirty="0"/>
              <a:t>Nc                                T2                                                                  Nib</a:t>
            </a:r>
          </a:p>
          <a:p>
            <a:pPr marL="0" indent="0">
              <a:buNone/>
            </a:pPr>
            <a:r>
              <a:rPr lang="en-US" dirty="0"/>
              <a:t>                  </a:t>
            </a:r>
            <a:r>
              <a:rPr lang="en-US" sz="1800" dirty="0"/>
              <a:t>Nm                                                       T1                        </a:t>
            </a:r>
            <a:r>
              <a:rPr lang="en-US" sz="1800" dirty="0" smtClean="0"/>
              <a:t>Nm                 m1</a:t>
            </a:r>
            <a:endParaRPr lang="en-US" sz="1800" dirty="0"/>
          </a:p>
          <a:p>
            <a:pPr marL="0" indent="0">
              <a:buNone/>
            </a:pPr>
            <a:r>
              <a:rPr lang="en-US" dirty="0"/>
              <a:t>                                  </a:t>
            </a:r>
            <a:r>
              <a:rPr lang="en-US" sz="1800" dirty="0" smtClean="0"/>
              <a:t>m</a:t>
            </a:r>
            <a:r>
              <a:rPr lang="en-US" dirty="0" smtClean="0"/>
              <a:t>            </a:t>
            </a:r>
            <a:r>
              <a:rPr lang="en-US" sz="1800" dirty="0" smtClean="0"/>
              <a:t>                                                                  m2          </a:t>
            </a:r>
            <a:r>
              <a:rPr lang="en-US" sz="1800" dirty="0" err="1" smtClean="0"/>
              <a:t>Nif</a:t>
            </a:r>
            <a:endParaRPr lang="en-US" sz="1800" dirty="0"/>
          </a:p>
          <a:p>
            <a:pPr marL="0" indent="0">
              <a:buNone/>
            </a:pPr>
            <a:r>
              <a:rPr lang="en-US" dirty="0"/>
              <a:t>                                 </a:t>
            </a:r>
            <a:r>
              <a:rPr lang="en-US" dirty="0" smtClean="0"/>
              <a:t>               </a:t>
            </a:r>
            <a:r>
              <a:rPr lang="en-US" sz="1800" dirty="0"/>
              <a:t>Ni</a:t>
            </a:r>
          </a:p>
          <a:p>
            <a:pPr marL="0" indent="0">
              <a:buNone/>
            </a:pPr>
            <a:r>
              <a:rPr lang="en-US" dirty="0"/>
              <a:t>                      </a:t>
            </a:r>
            <a:r>
              <a:rPr lang="en-US" sz="2400" dirty="0"/>
              <a:t>Model #</a:t>
            </a:r>
            <a:r>
              <a:rPr lang="en-US" sz="2400" dirty="0" smtClean="0"/>
              <a:t>1                                                   Model </a:t>
            </a:r>
            <a:r>
              <a:rPr lang="en-US" sz="2400" dirty="0"/>
              <a:t>#2 </a:t>
            </a:r>
            <a:r>
              <a:rPr lang="en-US" sz="2400" dirty="0" smtClean="0"/>
              <a:t>(Emma’s)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8936F8-E289-4A56-849E-62A92D029946}"/>
              </a:ext>
            </a:extLst>
          </p:cNvPr>
          <p:cNvCxnSpPr>
            <a:cxnSpLocks/>
          </p:cNvCxnSpPr>
          <p:nvPr/>
        </p:nvCxnSpPr>
        <p:spPr>
          <a:xfrm>
            <a:off x="2842986" y="3530600"/>
            <a:ext cx="0" cy="1935843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9215170-DF5A-40AC-A526-35C82F1CD34A}"/>
              </a:ext>
            </a:extLst>
          </p:cNvPr>
          <p:cNvCxnSpPr>
            <a:cxnSpLocks/>
          </p:cNvCxnSpPr>
          <p:nvPr/>
        </p:nvCxnSpPr>
        <p:spPr>
          <a:xfrm>
            <a:off x="2842986" y="3530600"/>
            <a:ext cx="6985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FABA08-46A6-4F35-9D72-8ECE978BA1A7}"/>
              </a:ext>
            </a:extLst>
          </p:cNvPr>
          <p:cNvCxnSpPr>
            <a:cxnSpLocks/>
          </p:cNvCxnSpPr>
          <p:nvPr/>
        </p:nvCxnSpPr>
        <p:spPr>
          <a:xfrm flipV="1">
            <a:off x="3048000" y="3118756"/>
            <a:ext cx="0" cy="411845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04A368-F0F3-43F7-80EB-58DAFB588405}"/>
              </a:ext>
            </a:extLst>
          </p:cNvPr>
          <p:cNvCxnSpPr>
            <a:cxnSpLocks/>
          </p:cNvCxnSpPr>
          <p:nvPr/>
        </p:nvCxnSpPr>
        <p:spPr>
          <a:xfrm flipV="1">
            <a:off x="3309258" y="3118756"/>
            <a:ext cx="0" cy="411845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ABA455E-A864-4360-B57B-F754E356C7EB}"/>
              </a:ext>
            </a:extLst>
          </p:cNvPr>
          <p:cNvCxnSpPr>
            <a:cxnSpLocks/>
          </p:cNvCxnSpPr>
          <p:nvPr/>
        </p:nvCxnSpPr>
        <p:spPr>
          <a:xfrm>
            <a:off x="2534558" y="3118756"/>
            <a:ext cx="1161143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2D9D165-DFAF-4C41-984B-52EFDA50C624}"/>
              </a:ext>
            </a:extLst>
          </p:cNvPr>
          <p:cNvCxnSpPr/>
          <p:nvPr/>
        </p:nvCxnSpPr>
        <p:spPr>
          <a:xfrm flipV="1">
            <a:off x="2534558" y="2596243"/>
            <a:ext cx="0" cy="522513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0C5FEAC-46D4-4397-B5A5-DCCAAEBD0F19}"/>
              </a:ext>
            </a:extLst>
          </p:cNvPr>
          <p:cNvCxnSpPr/>
          <p:nvPr/>
        </p:nvCxnSpPr>
        <p:spPr>
          <a:xfrm flipV="1">
            <a:off x="3695701" y="2596243"/>
            <a:ext cx="0" cy="537028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0776100-CD61-4A49-A386-7F372EB8A789}"/>
              </a:ext>
            </a:extLst>
          </p:cNvPr>
          <p:cNvCxnSpPr>
            <a:cxnSpLocks/>
          </p:cNvCxnSpPr>
          <p:nvPr/>
        </p:nvCxnSpPr>
        <p:spPr>
          <a:xfrm>
            <a:off x="3526972" y="3530600"/>
            <a:ext cx="0" cy="475343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B5D3776-8E87-4D48-BC0B-7C54B792BA15}"/>
              </a:ext>
            </a:extLst>
          </p:cNvPr>
          <p:cNvCxnSpPr>
            <a:cxnSpLocks/>
          </p:cNvCxnSpPr>
          <p:nvPr/>
        </p:nvCxnSpPr>
        <p:spPr>
          <a:xfrm>
            <a:off x="3526972" y="4194629"/>
            <a:ext cx="14514" cy="1271814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2885880-8ACE-4013-8E8E-5DD2DB529966}"/>
              </a:ext>
            </a:extLst>
          </p:cNvPr>
          <p:cNvCxnSpPr>
            <a:cxnSpLocks/>
          </p:cNvCxnSpPr>
          <p:nvPr/>
        </p:nvCxnSpPr>
        <p:spPr>
          <a:xfrm>
            <a:off x="3526972" y="4194629"/>
            <a:ext cx="587828" cy="1271814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099D38F-4D40-4072-B41C-AE223C06E4A4}"/>
              </a:ext>
            </a:extLst>
          </p:cNvPr>
          <p:cNvCxnSpPr>
            <a:cxnSpLocks/>
          </p:cNvCxnSpPr>
          <p:nvPr/>
        </p:nvCxnSpPr>
        <p:spPr>
          <a:xfrm>
            <a:off x="3526972" y="4005943"/>
            <a:ext cx="1184729" cy="14605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9B6FE58-8DE6-4688-B8A6-20606A15F2A5}"/>
              </a:ext>
            </a:extLst>
          </p:cNvPr>
          <p:cNvCxnSpPr>
            <a:cxnSpLocks/>
          </p:cNvCxnSpPr>
          <p:nvPr/>
        </p:nvCxnSpPr>
        <p:spPr>
          <a:xfrm>
            <a:off x="7467600" y="3512455"/>
            <a:ext cx="17018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CE235C2-9B2E-4085-BB23-A475E312472F}"/>
              </a:ext>
            </a:extLst>
          </p:cNvPr>
          <p:cNvCxnSpPr>
            <a:cxnSpLocks/>
          </p:cNvCxnSpPr>
          <p:nvPr/>
        </p:nvCxnSpPr>
        <p:spPr>
          <a:xfrm flipV="1">
            <a:off x="7736114" y="2596243"/>
            <a:ext cx="0" cy="916213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D57A191-3A36-4F0E-9ACA-FF81F57F1A8E}"/>
              </a:ext>
            </a:extLst>
          </p:cNvPr>
          <p:cNvCxnSpPr>
            <a:cxnSpLocks/>
          </p:cNvCxnSpPr>
          <p:nvPr/>
        </p:nvCxnSpPr>
        <p:spPr>
          <a:xfrm flipV="1">
            <a:off x="8871857" y="2596243"/>
            <a:ext cx="0" cy="930727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687C448-313B-4D90-A011-F818B15BC183}"/>
              </a:ext>
            </a:extLst>
          </p:cNvPr>
          <p:cNvCxnSpPr>
            <a:cxnSpLocks/>
          </p:cNvCxnSpPr>
          <p:nvPr/>
        </p:nvCxnSpPr>
        <p:spPr>
          <a:xfrm>
            <a:off x="7480300" y="3526970"/>
            <a:ext cx="0" cy="1939473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59F7D67-82A6-4139-84D3-8E030CCDAAF0}"/>
              </a:ext>
            </a:extLst>
          </p:cNvPr>
          <p:cNvCxnSpPr>
            <a:cxnSpLocks/>
          </p:cNvCxnSpPr>
          <p:nvPr/>
        </p:nvCxnSpPr>
        <p:spPr>
          <a:xfrm>
            <a:off x="8089900" y="3512455"/>
            <a:ext cx="0" cy="1953988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8035E0A-2FC7-45A6-BA13-BEEF39280E65}"/>
              </a:ext>
            </a:extLst>
          </p:cNvPr>
          <p:cNvCxnSpPr>
            <a:cxnSpLocks/>
          </p:cNvCxnSpPr>
          <p:nvPr/>
        </p:nvCxnSpPr>
        <p:spPr>
          <a:xfrm>
            <a:off x="8559800" y="3526970"/>
            <a:ext cx="0" cy="683988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89322C2-E2EF-462C-8202-2757015C0F33}"/>
              </a:ext>
            </a:extLst>
          </p:cNvPr>
          <p:cNvCxnSpPr>
            <a:cxnSpLocks/>
          </p:cNvCxnSpPr>
          <p:nvPr/>
        </p:nvCxnSpPr>
        <p:spPr>
          <a:xfrm>
            <a:off x="9169400" y="3512455"/>
            <a:ext cx="0" cy="6985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47AD095-2BB3-4D10-A5D3-1C7F034384D8}"/>
              </a:ext>
            </a:extLst>
          </p:cNvPr>
          <p:cNvCxnSpPr>
            <a:cxnSpLocks/>
          </p:cNvCxnSpPr>
          <p:nvPr/>
        </p:nvCxnSpPr>
        <p:spPr>
          <a:xfrm>
            <a:off x="8559800" y="4210958"/>
            <a:ext cx="6096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C53CED1-ED6C-478E-8A53-349B17BBA76B}"/>
              </a:ext>
            </a:extLst>
          </p:cNvPr>
          <p:cNvCxnSpPr>
            <a:cxnSpLocks/>
          </p:cNvCxnSpPr>
          <p:nvPr/>
        </p:nvCxnSpPr>
        <p:spPr>
          <a:xfrm>
            <a:off x="8737600" y="4210958"/>
            <a:ext cx="0" cy="1255485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798A6E4-34CB-4E35-8470-4E0755664C18}"/>
              </a:ext>
            </a:extLst>
          </p:cNvPr>
          <p:cNvCxnSpPr>
            <a:cxnSpLocks/>
          </p:cNvCxnSpPr>
          <p:nvPr/>
        </p:nvCxnSpPr>
        <p:spPr>
          <a:xfrm>
            <a:off x="8973457" y="4210958"/>
            <a:ext cx="0" cy="1255485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4EAFC49-1E26-4701-B418-991087ED44E7}"/>
              </a:ext>
            </a:extLst>
          </p:cNvPr>
          <p:cNvCxnSpPr>
            <a:cxnSpLocks/>
          </p:cNvCxnSpPr>
          <p:nvPr/>
        </p:nvCxnSpPr>
        <p:spPr>
          <a:xfrm>
            <a:off x="4483100" y="3118756"/>
            <a:ext cx="1016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666DFFF-9A8F-4CA6-AC75-7507B5CD2FEF}"/>
              </a:ext>
            </a:extLst>
          </p:cNvPr>
          <p:cNvCxnSpPr>
            <a:cxnSpLocks/>
          </p:cNvCxnSpPr>
          <p:nvPr/>
        </p:nvCxnSpPr>
        <p:spPr>
          <a:xfrm>
            <a:off x="4483100" y="3530600"/>
            <a:ext cx="23114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54B36EB-2B24-4381-A084-47700DE047CA}"/>
              </a:ext>
            </a:extLst>
          </p:cNvPr>
          <p:cNvCxnSpPr/>
          <p:nvPr/>
        </p:nvCxnSpPr>
        <p:spPr>
          <a:xfrm>
            <a:off x="4483100" y="4105729"/>
            <a:ext cx="23114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292930" y="5047989"/>
            <a:ext cx="8055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7866345" y="4546948"/>
            <a:ext cx="1005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7878448" y="4681886"/>
            <a:ext cx="1005512" cy="12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705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Dadi</a:t>
            </a:r>
            <a:r>
              <a:rPr lang="en-US" dirty="0" smtClean="0"/>
              <a:t> Residual Plots – Model #1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280" y="2243636"/>
            <a:ext cx="3454823" cy="32819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099" y="2243636"/>
            <a:ext cx="3761720" cy="3281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6652" y="5878481"/>
            <a:ext cx="10528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           GATK                                                    </a:t>
            </a:r>
            <a:r>
              <a:rPr lang="en-US" sz="2000" dirty="0" err="1" smtClean="0"/>
              <a:t>GATK</a:t>
            </a:r>
            <a:r>
              <a:rPr lang="en-US" sz="2000" dirty="0" smtClean="0"/>
              <a:t> Polarized                                                  </a:t>
            </a:r>
            <a:r>
              <a:rPr lang="en-US" sz="2000" dirty="0" err="1" smtClean="0"/>
              <a:t>Angsd</a:t>
            </a:r>
            <a:endParaRPr lang="en-US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9485" y="2243636"/>
            <a:ext cx="3695773" cy="328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121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FDD5C-13E3-4955-89F8-59929A436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Dadi</a:t>
            </a:r>
            <a:r>
              <a:rPr lang="en-US" dirty="0" smtClean="0"/>
              <a:t> Residual Plots – GATK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6241" y="2269760"/>
            <a:ext cx="3592286" cy="32297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410" y="2269761"/>
            <a:ext cx="3657601" cy="32297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571" y="2269760"/>
            <a:ext cx="3526972" cy="32297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flipH="1">
            <a:off x="838200" y="5878478"/>
            <a:ext cx="10657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</a:t>
            </a:r>
            <a:r>
              <a:rPr lang="en-US" sz="2000" dirty="0" smtClean="0"/>
              <a:t>Model #1                                                       Model #2                                               Model #2 Projected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43270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Best Runs - </a:t>
            </a:r>
            <a:r>
              <a:rPr lang="en-US" dirty="0" err="1" smtClean="0"/>
              <a:t>Dadi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8549779"/>
              </p:ext>
            </p:extLst>
          </p:nvPr>
        </p:nvGraphicFramePr>
        <p:xfrm>
          <a:off x="272504" y="2364376"/>
          <a:ext cx="11646992" cy="30231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3161">
                  <a:extLst>
                    <a:ext uri="{9D8B030D-6E8A-4147-A177-3AD203B41FA5}">
                      <a16:colId xmlns:a16="http://schemas.microsoft.com/office/drawing/2014/main" val="1013787077"/>
                    </a:ext>
                  </a:extLst>
                </a:gridCol>
                <a:gridCol w="953726">
                  <a:extLst>
                    <a:ext uri="{9D8B030D-6E8A-4147-A177-3AD203B41FA5}">
                      <a16:colId xmlns:a16="http://schemas.microsoft.com/office/drawing/2014/main" val="4046196561"/>
                    </a:ext>
                  </a:extLst>
                </a:gridCol>
                <a:gridCol w="953589">
                  <a:extLst>
                    <a:ext uri="{9D8B030D-6E8A-4147-A177-3AD203B41FA5}">
                      <a16:colId xmlns:a16="http://schemas.microsoft.com/office/drawing/2014/main" val="158609792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82342802"/>
                    </a:ext>
                  </a:extLst>
                </a:gridCol>
                <a:gridCol w="927463">
                  <a:extLst>
                    <a:ext uri="{9D8B030D-6E8A-4147-A177-3AD203B41FA5}">
                      <a16:colId xmlns:a16="http://schemas.microsoft.com/office/drawing/2014/main" val="3804552794"/>
                    </a:ext>
                  </a:extLst>
                </a:gridCol>
                <a:gridCol w="953588">
                  <a:extLst>
                    <a:ext uri="{9D8B030D-6E8A-4147-A177-3AD203B41FA5}">
                      <a16:colId xmlns:a16="http://schemas.microsoft.com/office/drawing/2014/main" val="107747624"/>
                    </a:ext>
                  </a:extLst>
                </a:gridCol>
                <a:gridCol w="888275">
                  <a:extLst>
                    <a:ext uri="{9D8B030D-6E8A-4147-A177-3AD203B41FA5}">
                      <a16:colId xmlns:a16="http://schemas.microsoft.com/office/drawing/2014/main" val="4110661565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294593825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917884708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1706642061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393522871"/>
                    </a:ext>
                  </a:extLst>
                </a:gridCol>
                <a:gridCol w="1005842">
                  <a:extLst>
                    <a:ext uri="{9D8B030D-6E8A-4147-A177-3AD203B41FA5}">
                      <a16:colId xmlns:a16="http://schemas.microsoft.com/office/drawing/2014/main" val="380193859"/>
                    </a:ext>
                  </a:extLst>
                </a:gridCol>
              </a:tblGrid>
              <a:tr h="5038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Rep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NAnc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NBottle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TBottleS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TBottleE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NMain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NCol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TCol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effectLst/>
                        </a:rPr>
                        <a:t>NIsl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TIsl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Mig1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Mig2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17159826"/>
                  </a:ext>
                </a:extLst>
              </a:tr>
              <a:tr h="5038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GATK</a:t>
                      </a:r>
                      <a:r>
                        <a:rPr lang="en-US" sz="16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–M1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38150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135054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70634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79631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5543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1423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5037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5702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2.34e-10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09100916"/>
                  </a:ext>
                </a:extLst>
              </a:tr>
              <a:tr h="5038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effectLst/>
                        </a:rPr>
                        <a:t>Caroli</a:t>
                      </a:r>
                      <a:r>
                        <a:rPr lang="en-US" sz="1600" dirty="0" smtClean="0">
                          <a:effectLst/>
                        </a:rPr>
                        <a:t>–M1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134588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849344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568969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639169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22634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5476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39101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15422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5.7e-7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67453745"/>
                  </a:ext>
                </a:extLst>
              </a:tr>
              <a:tr h="5038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effectLst/>
                        </a:rPr>
                        <a:t>Angsd</a:t>
                      </a:r>
                      <a:r>
                        <a:rPr lang="en-US" sz="1600" dirty="0" smtClean="0">
                          <a:effectLst/>
                        </a:rPr>
                        <a:t>–</a:t>
                      </a:r>
                      <a:r>
                        <a:rPr lang="en-US" sz="1600" baseline="0" dirty="0" smtClean="0">
                          <a:effectLst/>
                        </a:rPr>
                        <a:t>M1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849897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1014517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2385086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2610219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85819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7074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111100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268096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3.0e-8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81120761"/>
                  </a:ext>
                </a:extLst>
              </a:tr>
              <a:tr h="5038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GATK</a:t>
                      </a:r>
                      <a:r>
                        <a:rPr lang="en-US" sz="16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–M2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50380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10007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24127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5290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22269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22178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1504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1987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2.42e-5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6.41e-6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84906216"/>
                  </a:ext>
                </a:extLst>
              </a:tr>
              <a:tr h="5038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GATK</a:t>
                      </a:r>
                      <a:r>
                        <a:rPr lang="en-US" sz="16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–M2-P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73889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2332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4193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2232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26974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2057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743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1100</a:t>
                      </a:r>
                      <a:endParaRPr lang="en-US"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2.28e10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6.45e-9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4355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4124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Best Runs – Fastsimcoal2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5575886"/>
              </p:ext>
            </p:extLst>
          </p:nvPr>
        </p:nvGraphicFramePr>
        <p:xfrm>
          <a:off x="248195" y="1718342"/>
          <a:ext cx="11625942" cy="45910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2859">
                  <a:extLst>
                    <a:ext uri="{9D8B030D-6E8A-4147-A177-3AD203B41FA5}">
                      <a16:colId xmlns:a16="http://schemas.microsoft.com/office/drawing/2014/main" val="2092716907"/>
                    </a:ext>
                  </a:extLst>
                </a:gridCol>
                <a:gridCol w="870192">
                  <a:extLst>
                    <a:ext uri="{9D8B030D-6E8A-4147-A177-3AD203B41FA5}">
                      <a16:colId xmlns:a16="http://schemas.microsoft.com/office/drawing/2014/main" val="2106156896"/>
                    </a:ext>
                  </a:extLst>
                </a:gridCol>
                <a:gridCol w="853211">
                  <a:extLst>
                    <a:ext uri="{9D8B030D-6E8A-4147-A177-3AD203B41FA5}">
                      <a16:colId xmlns:a16="http://schemas.microsoft.com/office/drawing/2014/main" val="1515377789"/>
                    </a:ext>
                  </a:extLst>
                </a:gridCol>
                <a:gridCol w="849086">
                  <a:extLst>
                    <a:ext uri="{9D8B030D-6E8A-4147-A177-3AD203B41FA5}">
                      <a16:colId xmlns:a16="http://schemas.microsoft.com/office/drawing/2014/main" val="4106796941"/>
                    </a:ext>
                  </a:extLst>
                </a:gridCol>
                <a:gridCol w="940526">
                  <a:extLst>
                    <a:ext uri="{9D8B030D-6E8A-4147-A177-3AD203B41FA5}">
                      <a16:colId xmlns:a16="http://schemas.microsoft.com/office/drawing/2014/main" val="2972636808"/>
                    </a:ext>
                  </a:extLst>
                </a:gridCol>
                <a:gridCol w="953588">
                  <a:extLst>
                    <a:ext uri="{9D8B030D-6E8A-4147-A177-3AD203B41FA5}">
                      <a16:colId xmlns:a16="http://schemas.microsoft.com/office/drawing/2014/main" val="620299233"/>
                    </a:ext>
                  </a:extLst>
                </a:gridCol>
                <a:gridCol w="1293223">
                  <a:extLst>
                    <a:ext uri="{9D8B030D-6E8A-4147-A177-3AD203B41FA5}">
                      <a16:colId xmlns:a16="http://schemas.microsoft.com/office/drawing/2014/main" val="1275027388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4214144200"/>
                    </a:ext>
                  </a:extLst>
                </a:gridCol>
                <a:gridCol w="1149531">
                  <a:extLst>
                    <a:ext uri="{9D8B030D-6E8A-4147-A177-3AD203B41FA5}">
                      <a16:colId xmlns:a16="http://schemas.microsoft.com/office/drawing/2014/main" val="364355968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476465337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3832705606"/>
                    </a:ext>
                  </a:extLst>
                </a:gridCol>
              </a:tblGrid>
              <a:tr h="327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Run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NAnc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NBot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TBot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Nmain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NIsland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NColonization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TColonization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Migration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MaxEstLhood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MaxObsLhood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extLst>
                  <a:ext uri="{0D108BD9-81ED-4DB2-BD59-A6C34878D82A}">
                    <a16:rowId xmlns:a16="http://schemas.microsoft.com/office/drawing/2014/main" val="2991362258"/>
                  </a:ext>
                </a:extLst>
              </a:tr>
              <a:tr h="327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Caroli_1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224927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6031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9785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1445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1329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236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9753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2.60E-04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-514448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-485927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extLst>
                  <a:ext uri="{0D108BD9-81ED-4DB2-BD59-A6C34878D82A}">
                    <a16:rowId xmlns:a16="http://schemas.microsoft.com/office/drawing/2014/main" val="111290421"/>
                  </a:ext>
                </a:extLst>
              </a:tr>
              <a:tr h="4918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Caroli_2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296297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7650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11226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2351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1221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188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6946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1.36E-04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-514720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-485927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extLst>
                  <a:ext uri="{0D108BD9-81ED-4DB2-BD59-A6C34878D82A}">
                    <a16:rowId xmlns:a16="http://schemas.microsoft.com/office/drawing/2014/main" val="3759532733"/>
                  </a:ext>
                </a:extLst>
              </a:tr>
              <a:tr h="4918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Caroli_3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298206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1787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10437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1975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1298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306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7828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1.73E-04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-514956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-485927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extLst>
                  <a:ext uri="{0D108BD9-81ED-4DB2-BD59-A6C34878D82A}">
                    <a16:rowId xmlns:a16="http://schemas.microsoft.com/office/drawing/2014/main" val="1738369352"/>
                  </a:ext>
                </a:extLst>
              </a:tr>
              <a:tr h="4918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GATK_1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996942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2689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15440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10476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11076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2935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13164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3.96E-05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-147263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-142784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extLst>
                  <a:ext uri="{0D108BD9-81ED-4DB2-BD59-A6C34878D82A}">
                    <a16:rowId xmlns:a16="http://schemas.microsoft.com/office/drawing/2014/main" val="3580448180"/>
                  </a:ext>
                </a:extLst>
              </a:tr>
              <a:tr h="4918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GATK_2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531096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13489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19168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10181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11828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1815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18596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3.88E-05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-147295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-142784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extLst>
                  <a:ext uri="{0D108BD9-81ED-4DB2-BD59-A6C34878D82A}">
                    <a16:rowId xmlns:a16="http://schemas.microsoft.com/office/drawing/2014/main" val="1238484589"/>
                  </a:ext>
                </a:extLst>
              </a:tr>
              <a:tr h="4918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GATK_3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544860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4752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21297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10294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11483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1394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20681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4.23E-05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-147363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-142784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extLst>
                  <a:ext uri="{0D108BD9-81ED-4DB2-BD59-A6C34878D82A}">
                    <a16:rowId xmlns:a16="http://schemas.microsoft.com/office/drawing/2014/main" val="2152072654"/>
                  </a:ext>
                </a:extLst>
              </a:tr>
              <a:tr h="4918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Angsd_1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324923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9957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25830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13648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84899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8861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1.22E-06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-1324041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-1295819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extLst>
                  <a:ext uri="{0D108BD9-81ED-4DB2-BD59-A6C34878D82A}">
                    <a16:rowId xmlns:a16="http://schemas.microsoft.com/office/drawing/2014/main" val="1708172334"/>
                  </a:ext>
                </a:extLst>
              </a:tr>
              <a:tr h="4918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Angsd_2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380592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15659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32120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13045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35570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711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9072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1.37E-06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-1324055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-1295819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extLst>
                  <a:ext uri="{0D108BD9-81ED-4DB2-BD59-A6C34878D82A}">
                    <a16:rowId xmlns:a16="http://schemas.microsoft.com/office/drawing/2014/main" val="1513432302"/>
                  </a:ext>
                </a:extLst>
              </a:tr>
              <a:tr h="4918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Angsd_3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389642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15333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26352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10566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41242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462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6990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1.60E-06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-1324111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-1295819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457" marR="54457" marT="0" marB="0" anchor="ctr"/>
                </a:tc>
                <a:extLst>
                  <a:ext uri="{0D108BD9-81ED-4DB2-BD59-A6C34878D82A}">
                    <a16:rowId xmlns:a16="http://schemas.microsoft.com/office/drawing/2014/main" val="3340826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480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Better convergence for Fastsimcol2</a:t>
            </a:r>
          </a:p>
          <a:p>
            <a:r>
              <a:rPr lang="en-US" dirty="0" smtClean="0"/>
              <a:t>Different estimates with GATK or </a:t>
            </a:r>
            <a:r>
              <a:rPr lang="en-US" dirty="0" err="1" smtClean="0"/>
              <a:t>Angsd</a:t>
            </a:r>
            <a:r>
              <a:rPr lang="en-US" dirty="0" smtClean="0"/>
              <a:t> SFS</a:t>
            </a:r>
          </a:p>
          <a:p>
            <a:r>
              <a:rPr lang="en-US" dirty="0" smtClean="0"/>
              <a:t>Try different models with </a:t>
            </a:r>
            <a:r>
              <a:rPr lang="en-US" dirty="0" err="1" smtClean="0"/>
              <a:t>dadi</a:t>
            </a:r>
            <a:r>
              <a:rPr lang="en-US" dirty="0" smtClean="0"/>
              <a:t>?</a:t>
            </a:r>
          </a:p>
          <a:p>
            <a:r>
              <a:rPr lang="en-US" dirty="0" smtClean="0"/>
              <a:t>Suggestions?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673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20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4629</TotalTime>
  <Words>347</Words>
  <Application>Microsoft Office PowerPoint</Application>
  <PresentationFormat>Widescreen</PresentationFormat>
  <Paragraphs>218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Inferring Demographic History of Faroese Mice</vt:lpstr>
      <vt:lpstr>Genome Sequencing Data</vt:lpstr>
      <vt:lpstr>SFS by Haplotype Caller</vt:lpstr>
      <vt:lpstr>SFS by Angsd</vt:lpstr>
      <vt:lpstr>Models</vt:lpstr>
      <vt:lpstr>Dadi Residual Plots – Model #1</vt:lpstr>
      <vt:lpstr>Dadi Residual Plots – GATK</vt:lpstr>
      <vt:lpstr>Best Runs - Dadi</vt:lpstr>
      <vt:lpstr>Best Runs – Fastsimcoal2</vt:lpstr>
      <vt:lpstr>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Genome Sequences for Faroese Mice</dc:title>
  <dc:creator>Payseur</dc:creator>
  <cp:lastModifiedBy>Payseur</cp:lastModifiedBy>
  <cp:revision>112</cp:revision>
  <dcterms:created xsi:type="dcterms:W3CDTF">2019-09-24T20:11:40Z</dcterms:created>
  <dcterms:modified xsi:type="dcterms:W3CDTF">2021-08-17T17:19:07Z</dcterms:modified>
</cp:coreProperties>
</file>